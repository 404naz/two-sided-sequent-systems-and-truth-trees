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258" r:id="rId6"/>
    <p:sldId id="262" r:id="rId7"/>
    <p:sldId id="259" r:id="rId8"/>
    <p:sldId id="263" r:id="rId9"/>
    <p:sldId id="260" r:id="rId10"/>
    <p:sldId id="268" r:id="rId11"/>
    <p:sldId id="270" r:id="rId12"/>
    <p:sldId id="267" r:id="rId13"/>
    <p:sldId id="261" r:id="rId14"/>
    <p:sldId id="264" r:id="rId15"/>
    <p:sldId id="265" r:id="rId16"/>
    <p:sldId id="266" r:id="rId17"/>
    <p:sldId id="257"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6ED105-3836-4316-A29E-2B1EAB32BA42}" v="85" dt="2026-04-28T03:12:09.513"/>
    <p1510:client id="{B9752487-378C-344F-8AF5-052F3A7D73D1}" v="371" dt="2026-04-28T00:24:31.8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7486" autoAdjust="0"/>
  </p:normalViewPr>
  <p:slideViewPr>
    <p:cSldViewPr snapToGrid="0">
      <p:cViewPr varScale="1">
        <p:scale>
          <a:sx n="96" d="100"/>
          <a:sy n="96" d="100"/>
        </p:scale>
        <p:origin x="132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14B7C5-6DFD-5B42-91A5-701AB46C0009}" type="datetimeFigureOut">
              <a:rPr lang="en-US" smtClean="0"/>
              <a:t>4/28/26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47B6E-467E-C047-8412-DD77D4C29C01}" type="slidenum">
              <a:rPr lang="en-US" smtClean="0"/>
              <a:t>‹#›</a:t>
            </a:fld>
            <a:endParaRPr lang="en-US"/>
          </a:p>
        </p:txBody>
      </p:sp>
    </p:spTree>
    <p:extLst>
      <p:ext uri="{BB962C8B-B14F-4D97-AF65-F5344CB8AC3E}">
        <p14:creationId xmlns:p14="http://schemas.microsoft.com/office/powerpoint/2010/main" val="3625850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Andrii</a:t>
            </a:r>
            <a:br>
              <a:rPr lang="en-US" dirty="0"/>
            </a:br>
            <a:r>
              <a:rPr lang="en-US" dirty="0"/>
              <a:t>So a sequent is basically formulas on the left of the arrow and formulas on the right. The way you read it is, if everything on the left is true, then at least one thing on the right has to be true. The operational rules are how you break down the logical connectives. Negation moves a formula across the arrow and flips it. Conjunction on the left is straightforward, but conjunction on the right makes the proof branch into two. Disjunction is the opposite. Implication left branches, implication right doesn't. Then the structural rules are just housekeeping, weakening lets you add formulas, contraction removes duplicates, exchange lets you reorder. You build these derivations bottom up until every branch reaches the axiom A implies A.</a:t>
            </a:r>
          </a:p>
        </p:txBody>
      </p:sp>
      <p:sp>
        <p:nvSpPr>
          <p:cNvPr id="4" name="Slide Number Placeholder 3"/>
          <p:cNvSpPr>
            <a:spLocks noGrp="1"/>
          </p:cNvSpPr>
          <p:nvPr>
            <p:ph type="sldNum" sz="quarter" idx="5"/>
          </p:nvPr>
        </p:nvSpPr>
        <p:spPr/>
        <p:txBody>
          <a:bodyPr/>
          <a:lstStyle/>
          <a:p>
            <a:fld id="{BEF47B6E-467E-C047-8412-DD77D4C29C01}" type="slidenum">
              <a:rPr lang="en-US" smtClean="0"/>
              <a:t>2</a:t>
            </a:fld>
            <a:endParaRPr lang="en-US"/>
          </a:p>
        </p:txBody>
      </p:sp>
    </p:spTree>
    <p:extLst>
      <p:ext uri="{BB962C8B-B14F-4D97-AF65-F5344CB8AC3E}">
        <p14:creationId xmlns:p14="http://schemas.microsoft.com/office/powerpoint/2010/main" val="2919358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Andrii</a:t>
            </a:r>
            <a:br>
              <a:rPr lang="en-US" dirty="0"/>
            </a:br>
            <a:r>
              <a:rPr lang="en-US" dirty="0"/>
              <a:t>For how we represent this in code, the derivation is stored as a binary tree. There's two node types. Binary nodes have two parents above them, and those are for branching rules like conjunction right or disjunction left. Unary nodes have one parent, for the linear rules like negation or weakening. Each node stores which rule was applied, the formulas on both sides of the arrow, and references to its parents and children.</a:t>
            </a:r>
          </a:p>
          <a:p>
            <a:endParaRPr lang="en-US" dirty="0"/>
          </a:p>
        </p:txBody>
      </p:sp>
      <p:sp>
        <p:nvSpPr>
          <p:cNvPr id="4" name="Slide Number Placeholder 3"/>
          <p:cNvSpPr>
            <a:spLocks noGrp="1"/>
          </p:cNvSpPr>
          <p:nvPr>
            <p:ph type="sldNum" sz="quarter" idx="5"/>
          </p:nvPr>
        </p:nvSpPr>
        <p:spPr/>
        <p:txBody>
          <a:bodyPr/>
          <a:lstStyle/>
          <a:p>
            <a:fld id="{BEF47B6E-467E-C047-8412-DD77D4C29C01}" type="slidenum">
              <a:rPr lang="en-US" smtClean="0"/>
              <a:t>3</a:t>
            </a:fld>
            <a:endParaRPr lang="en-US"/>
          </a:p>
        </p:txBody>
      </p:sp>
    </p:spTree>
    <p:extLst>
      <p:ext uri="{BB962C8B-B14F-4D97-AF65-F5344CB8AC3E}">
        <p14:creationId xmlns:p14="http://schemas.microsoft.com/office/powerpoint/2010/main" val="2363503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Andrii</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are the decomposition and closure rules. Some decompositions are linear, like P and Q just gives you both P and Q on the same branch, or double negation just cancels out. Others branch, like P or Q splits into a P side and a Q side. The negated versions flip which ones branch and which ones don't. For closure, a branch closes when you find a formula and its negation on the same branch. If all branches close, the root formulas can't all be true at the same time.</a:t>
            </a:r>
          </a:p>
          <a:p>
            <a:endParaRPr lang="en-US" dirty="0"/>
          </a:p>
        </p:txBody>
      </p:sp>
      <p:sp>
        <p:nvSpPr>
          <p:cNvPr id="4" name="Slide Number Placeholder 3"/>
          <p:cNvSpPr>
            <a:spLocks noGrp="1"/>
          </p:cNvSpPr>
          <p:nvPr>
            <p:ph type="sldNum" sz="quarter" idx="5"/>
          </p:nvPr>
        </p:nvSpPr>
        <p:spPr/>
        <p:txBody>
          <a:bodyPr/>
          <a:lstStyle/>
          <a:p>
            <a:fld id="{BEF47B6E-467E-C047-8412-DD77D4C29C01}" type="slidenum">
              <a:rPr lang="en-US" smtClean="0"/>
              <a:t>4</a:t>
            </a:fld>
            <a:endParaRPr lang="en-US"/>
          </a:p>
        </p:txBody>
      </p:sp>
    </p:spTree>
    <p:extLst>
      <p:ext uri="{BB962C8B-B14F-4D97-AF65-F5344CB8AC3E}">
        <p14:creationId xmlns:p14="http://schemas.microsoft.com/office/powerpoint/2010/main" val="1046430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Andrii</a:t>
            </a:r>
          </a:p>
          <a:p>
            <a:r>
              <a:rPr lang="en-US" dirty="0"/>
              <a:t>On the truth tree side we have four node types. Binary nodes have two children, those are for branching decompositions. Unary nodes have one child, for linear decompositions. Then closed nodes mark where a branch hit a contradiction, and open nodes are for branches that finished clean, though we don't use open nodes in the current implementation. Each node stores the formula it represents and references to its parent and children.</a:t>
            </a:r>
          </a:p>
        </p:txBody>
      </p:sp>
      <p:sp>
        <p:nvSpPr>
          <p:cNvPr id="4" name="Slide Number Placeholder 3"/>
          <p:cNvSpPr>
            <a:spLocks noGrp="1"/>
          </p:cNvSpPr>
          <p:nvPr>
            <p:ph type="sldNum" sz="quarter" idx="5"/>
          </p:nvPr>
        </p:nvSpPr>
        <p:spPr/>
        <p:txBody>
          <a:bodyPr/>
          <a:lstStyle/>
          <a:p>
            <a:fld id="{BEF47B6E-467E-C047-8412-DD77D4C29C01}" type="slidenum">
              <a:rPr lang="en-US" smtClean="0"/>
              <a:t>5</a:t>
            </a:fld>
            <a:endParaRPr lang="en-US"/>
          </a:p>
        </p:txBody>
      </p:sp>
    </p:spTree>
    <p:extLst>
      <p:ext uri="{BB962C8B-B14F-4D97-AF65-F5344CB8AC3E}">
        <p14:creationId xmlns:p14="http://schemas.microsoft.com/office/powerpoint/2010/main" val="2831030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Andrew</a:t>
            </a:r>
          </a:p>
        </p:txBody>
      </p:sp>
      <p:sp>
        <p:nvSpPr>
          <p:cNvPr id="4" name="Slide Number Placeholder 3"/>
          <p:cNvSpPr>
            <a:spLocks noGrp="1"/>
          </p:cNvSpPr>
          <p:nvPr>
            <p:ph type="sldNum" sz="quarter" idx="5"/>
          </p:nvPr>
        </p:nvSpPr>
        <p:spPr/>
        <p:txBody>
          <a:bodyPr/>
          <a:lstStyle/>
          <a:p>
            <a:fld id="{BEF47B6E-467E-C047-8412-DD77D4C29C01}" type="slidenum">
              <a:rPr lang="en-US" smtClean="0"/>
              <a:t>6</a:t>
            </a:fld>
            <a:endParaRPr lang="en-US"/>
          </a:p>
        </p:txBody>
      </p:sp>
    </p:spTree>
    <p:extLst>
      <p:ext uri="{BB962C8B-B14F-4D97-AF65-F5344CB8AC3E}">
        <p14:creationId xmlns:p14="http://schemas.microsoft.com/office/powerpoint/2010/main" val="406406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Andrew</a:t>
            </a:r>
          </a:p>
        </p:txBody>
      </p:sp>
      <p:sp>
        <p:nvSpPr>
          <p:cNvPr id="4" name="Slide Number Placeholder 3"/>
          <p:cNvSpPr>
            <a:spLocks noGrp="1"/>
          </p:cNvSpPr>
          <p:nvPr>
            <p:ph type="sldNum" sz="quarter" idx="5"/>
          </p:nvPr>
        </p:nvSpPr>
        <p:spPr/>
        <p:txBody>
          <a:bodyPr/>
          <a:lstStyle/>
          <a:p>
            <a:fld id="{BEF47B6E-467E-C047-8412-DD77D4C29C01}" type="slidenum">
              <a:rPr lang="en-US" smtClean="0"/>
              <a:t>7</a:t>
            </a:fld>
            <a:endParaRPr lang="en-US"/>
          </a:p>
        </p:txBody>
      </p:sp>
    </p:spTree>
    <p:extLst>
      <p:ext uri="{BB962C8B-B14F-4D97-AF65-F5344CB8AC3E}">
        <p14:creationId xmlns:p14="http://schemas.microsoft.com/office/powerpoint/2010/main" val="280338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Andrii</a:t>
            </a:r>
          </a:p>
          <a:p>
            <a:r>
              <a:rPr lang="en-US" dirty="0"/>
              <a:t>We have 54 tests passing across the codebase. They cover the expression classes, the tree node wiring, the serializer output, and then conversion tests that check specific sequent derivations produce the correct truth trees.</a:t>
            </a:r>
          </a:p>
        </p:txBody>
      </p:sp>
      <p:sp>
        <p:nvSpPr>
          <p:cNvPr id="4" name="Slide Number Placeholder 3"/>
          <p:cNvSpPr>
            <a:spLocks noGrp="1"/>
          </p:cNvSpPr>
          <p:nvPr>
            <p:ph type="sldNum" sz="quarter" idx="5"/>
          </p:nvPr>
        </p:nvSpPr>
        <p:spPr/>
        <p:txBody>
          <a:bodyPr/>
          <a:lstStyle/>
          <a:p>
            <a:fld id="{BEF47B6E-467E-C047-8412-DD77D4C29C01}" type="slidenum">
              <a:rPr lang="en-US" smtClean="0"/>
              <a:t>8</a:t>
            </a:fld>
            <a:endParaRPr lang="en-US"/>
          </a:p>
        </p:txBody>
      </p:sp>
    </p:spTree>
    <p:extLst>
      <p:ext uri="{BB962C8B-B14F-4D97-AF65-F5344CB8AC3E}">
        <p14:creationId xmlns:p14="http://schemas.microsoft.com/office/powerpoint/2010/main" val="3040603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Andrii</a:t>
            </a:r>
          </a:p>
          <a:p>
            <a:r>
              <a:rPr lang="en-US" dirty="0"/>
              <a:t>The output is JSON formatted for the Willow proof tree visualizer. Each node gets an ID, the formula text, references to its children, and decomposition info. There's no input format right now, you have to build the sequent systems directly in C++ code.</a:t>
            </a:r>
          </a:p>
        </p:txBody>
      </p:sp>
      <p:sp>
        <p:nvSpPr>
          <p:cNvPr id="4" name="Slide Number Placeholder 3"/>
          <p:cNvSpPr>
            <a:spLocks noGrp="1"/>
          </p:cNvSpPr>
          <p:nvPr>
            <p:ph type="sldNum" sz="quarter" idx="5"/>
          </p:nvPr>
        </p:nvSpPr>
        <p:spPr/>
        <p:txBody>
          <a:bodyPr/>
          <a:lstStyle/>
          <a:p>
            <a:fld id="{BEF47B6E-467E-C047-8412-DD77D4C29C01}" type="slidenum">
              <a:rPr lang="en-US" smtClean="0"/>
              <a:t>9</a:t>
            </a:fld>
            <a:endParaRPr lang="en-US"/>
          </a:p>
        </p:txBody>
      </p:sp>
    </p:spTree>
    <p:extLst>
      <p:ext uri="{BB962C8B-B14F-4D97-AF65-F5344CB8AC3E}">
        <p14:creationId xmlns:p14="http://schemas.microsoft.com/office/powerpoint/2010/main" val="502772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Andrew</a:t>
            </a:r>
          </a:p>
          <a:p>
            <a:r>
              <a:rPr lang="en-US" dirty="0"/>
              <a:t>Willow image and sequent system image</a:t>
            </a:r>
          </a:p>
        </p:txBody>
      </p:sp>
      <p:sp>
        <p:nvSpPr>
          <p:cNvPr id="4" name="Slide Number Placeholder 3"/>
          <p:cNvSpPr>
            <a:spLocks noGrp="1"/>
          </p:cNvSpPr>
          <p:nvPr>
            <p:ph type="sldNum" sz="quarter" idx="5"/>
          </p:nvPr>
        </p:nvSpPr>
        <p:spPr/>
        <p:txBody>
          <a:bodyPr/>
          <a:lstStyle/>
          <a:p>
            <a:fld id="{BEF47B6E-467E-C047-8412-DD77D4C29C01}" type="slidenum">
              <a:rPr lang="en-US" smtClean="0"/>
              <a:t>10</a:t>
            </a:fld>
            <a:endParaRPr lang="en-US"/>
          </a:p>
        </p:txBody>
      </p:sp>
    </p:spTree>
    <p:extLst>
      <p:ext uri="{BB962C8B-B14F-4D97-AF65-F5344CB8AC3E}">
        <p14:creationId xmlns:p14="http://schemas.microsoft.com/office/powerpoint/2010/main" val="2487167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Andrew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Willow image and sequent system image</a:t>
            </a:r>
          </a:p>
          <a:p>
            <a:endParaRPr lang="en-US" dirty="0"/>
          </a:p>
        </p:txBody>
      </p:sp>
      <p:sp>
        <p:nvSpPr>
          <p:cNvPr id="4" name="Slide Number Placeholder 3"/>
          <p:cNvSpPr>
            <a:spLocks noGrp="1"/>
          </p:cNvSpPr>
          <p:nvPr>
            <p:ph type="sldNum" sz="quarter" idx="5"/>
          </p:nvPr>
        </p:nvSpPr>
        <p:spPr/>
        <p:txBody>
          <a:bodyPr/>
          <a:lstStyle/>
          <a:p>
            <a:fld id="{BEF47B6E-467E-C047-8412-DD77D4C29C01}" type="slidenum">
              <a:rPr lang="en-US" smtClean="0"/>
              <a:t>11</a:t>
            </a:fld>
            <a:endParaRPr lang="en-US"/>
          </a:p>
        </p:txBody>
      </p:sp>
    </p:spTree>
    <p:extLst>
      <p:ext uri="{BB962C8B-B14F-4D97-AF65-F5344CB8AC3E}">
        <p14:creationId xmlns:p14="http://schemas.microsoft.com/office/powerpoint/2010/main" val="40792474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Andrew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Willow image and sequent system image</a:t>
            </a:r>
          </a:p>
          <a:p>
            <a:endParaRPr lang="en-US" dirty="0"/>
          </a:p>
        </p:txBody>
      </p:sp>
      <p:sp>
        <p:nvSpPr>
          <p:cNvPr id="4" name="Slide Number Placeholder 3"/>
          <p:cNvSpPr>
            <a:spLocks noGrp="1"/>
          </p:cNvSpPr>
          <p:nvPr>
            <p:ph type="sldNum" sz="quarter" idx="5"/>
          </p:nvPr>
        </p:nvSpPr>
        <p:spPr/>
        <p:txBody>
          <a:bodyPr/>
          <a:lstStyle/>
          <a:p>
            <a:fld id="{BEF47B6E-467E-C047-8412-DD77D4C29C01}" type="slidenum">
              <a:rPr lang="en-US" smtClean="0"/>
              <a:t>12</a:t>
            </a:fld>
            <a:endParaRPr lang="en-US"/>
          </a:p>
        </p:txBody>
      </p:sp>
    </p:spTree>
    <p:extLst>
      <p:ext uri="{BB962C8B-B14F-4D97-AF65-F5344CB8AC3E}">
        <p14:creationId xmlns:p14="http://schemas.microsoft.com/office/powerpoint/2010/main" val="902523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Andrii</a:t>
            </a:r>
          </a:p>
          <a:p>
            <a:endParaRPr lang="en-US" dirty="0"/>
          </a:p>
          <a:p>
            <a:r>
              <a:rPr lang="en-US" dirty="0"/>
              <a:t>We have a couple known issues. Cases with duplicate formulas on one side that need contraction before the next step don't work properly yet. And it can also have trouble with cascaded operations, like when you have nested parentheses grouping A and B together with C and D.</a:t>
            </a:r>
          </a:p>
        </p:txBody>
      </p:sp>
      <p:sp>
        <p:nvSpPr>
          <p:cNvPr id="4" name="Slide Number Placeholder 3"/>
          <p:cNvSpPr>
            <a:spLocks noGrp="1"/>
          </p:cNvSpPr>
          <p:nvPr>
            <p:ph type="sldNum" sz="quarter" idx="5"/>
          </p:nvPr>
        </p:nvSpPr>
        <p:spPr/>
        <p:txBody>
          <a:bodyPr/>
          <a:lstStyle/>
          <a:p>
            <a:fld id="{BEF47B6E-467E-C047-8412-DD77D4C29C01}" type="slidenum">
              <a:rPr lang="en-US" smtClean="0"/>
              <a:t>13</a:t>
            </a:fld>
            <a:endParaRPr lang="en-US"/>
          </a:p>
        </p:txBody>
      </p:sp>
    </p:spTree>
    <p:extLst>
      <p:ext uri="{BB962C8B-B14F-4D97-AF65-F5344CB8AC3E}">
        <p14:creationId xmlns:p14="http://schemas.microsoft.com/office/powerpoint/2010/main" val="4191559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Andrew</a:t>
            </a:r>
          </a:p>
        </p:txBody>
      </p:sp>
      <p:sp>
        <p:nvSpPr>
          <p:cNvPr id="4" name="Slide Number Placeholder 3"/>
          <p:cNvSpPr>
            <a:spLocks noGrp="1"/>
          </p:cNvSpPr>
          <p:nvPr>
            <p:ph type="sldNum" sz="quarter" idx="5"/>
          </p:nvPr>
        </p:nvSpPr>
        <p:spPr/>
        <p:txBody>
          <a:bodyPr/>
          <a:lstStyle/>
          <a:p>
            <a:fld id="{BEF47B6E-467E-C047-8412-DD77D4C29C01}" type="slidenum">
              <a:rPr lang="en-US" smtClean="0"/>
              <a:t>14</a:t>
            </a:fld>
            <a:endParaRPr lang="en-US"/>
          </a:p>
        </p:txBody>
      </p:sp>
    </p:spTree>
    <p:extLst>
      <p:ext uri="{BB962C8B-B14F-4D97-AF65-F5344CB8AC3E}">
        <p14:creationId xmlns:p14="http://schemas.microsoft.com/office/powerpoint/2010/main" val="2955832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0284C-2D12-3BC5-F992-EBDA4CD0B2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EAEEAA-D779-7994-388E-7FC567A5D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4BE85B-3B28-C885-B4BD-DBE70B5183F1}"/>
              </a:ext>
            </a:extLst>
          </p:cNvPr>
          <p:cNvSpPr>
            <a:spLocks noGrp="1"/>
          </p:cNvSpPr>
          <p:nvPr>
            <p:ph type="dt" sz="half" idx="10"/>
          </p:nvPr>
        </p:nvSpPr>
        <p:spPr/>
        <p:txBody>
          <a:bodyPr/>
          <a:lstStyle/>
          <a:p>
            <a:fld id="{F2B10D47-E3A7-41AF-8F64-C5AE13807D8E}" type="datetimeFigureOut">
              <a:rPr lang="en-US" smtClean="0"/>
              <a:t>4/28/26</a:t>
            </a:fld>
            <a:endParaRPr lang="en-US"/>
          </a:p>
        </p:txBody>
      </p:sp>
      <p:sp>
        <p:nvSpPr>
          <p:cNvPr id="5" name="Footer Placeholder 4">
            <a:extLst>
              <a:ext uri="{FF2B5EF4-FFF2-40B4-BE49-F238E27FC236}">
                <a16:creationId xmlns:a16="http://schemas.microsoft.com/office/drawing/2014/main" id="{ECB1AFB3-DCAF-4021-E463-9BED612FC0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75344C-F240-A39F-92EF-6C39A0B628D7}"/>
              </a:ext>
            </a:extLst>
          </p:cNvPr>
          <p:cNvSpPr>
            <a:spLocks noGrp="1"/>
          </p:cNvSpPr>
          <p:nvPr>
            <p:ph type="sldNum" sz="quarter" idx="12"/>
          </p:nvPr>
        </p:nvSpPr>
        <p:spPr/>
        <p:txBody>
          <a:bodyPr/>
          <a:lstStyle/>
          <a:p>
            <a:fld id="{207C2DF4-E846-4C73-97EE-128063B4D458}" type="slidenum">
              <a:rPr lang="en-US" smtClean="0"/>
              <a:t>‹#›</a:t>
            </a:fld>
            <a:endParaRPr lang="en-US"/>
          </a:p>
        </p:txBody>
      </p:sp>
    </p:spTree>
    <p:extLst>
      <p:ext uri="{BB962C8B-B14F-4D97-AF65-F5344CB8AC3E}">
        <p14:creationId xmlns:p14="http://schemas.microsoft.com/office/powerpoint/2010/main" val="1131074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3A10-6A2B-CA40-34C2-EC363282F7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903EF9-0ACF-582F-F237-91519AEE99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FB7EF0-FBC2-8E3E-C551-E3C24A894346}"/>
              </a:ext>
            </a:extLst>
          </p:cNvPr>
          <p:cNvSpPr>
            <a:spLocks noGrp="1"/>
          </p:cNvSpPr>
          <p:nvPr>
            <p:ph type="dt" sz="half" idx="10"/>
          </p:nvPr>
        </p:nvSpPr>
        <p:spPr/>
        <p:txBody>
          <a:bodyPr/>
          <a:lstStyle/>
          <a:p>
            <a:fld id="{F2B10D47-E3A7-41AF-8F64-C5AE13807D8E}" type="datetimeFigureOut">
              <a:rPr lang="en-US" smtClean="0"/>
              <a:t>4/28/26</a:t>
            </a:fld>
            <a:endParaRPr lang="en-US"/>
          </a:p>
        </p:txBody>
      </p:sp>
      <p:sp>
        <p:nvSpPr>
          <p:cNvPr id="5" name="Footer Placeholder 4">
            <a:extLst>
              <a:ext uri="{FF2B5EF4-FFF2-40B4-BE49-F238E27FC236}">
                <a16:creationId xmlns:a16="http://schemas.microsoft.com/office/drawing/2014/main" id="{BB990D89-C163-3E82-3705-3A7617B87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7E1F01-187B-5ADE-85D3-57B21FC7D5DA}"/>
              </a:ext>
            </a:extLst>
          </p:cNvPr>
          <p:cNvSpPr>
            <a:spLocks noGrp="1"/>
          </p:cNvSpPr>
          <p:nvPr>
            <p:ph type="sldNum" sz="quarter" idx="12"/>
          </p:nvPr>
        </p:nvSpPr>
        <p:spPr/>
        <p:txBody>
          <a:bodyPr/>
          <a:lstStyle/>
          <a:p>
            <a:fld id="{207C2DF4-E846-4C73-97EE-128063B4D458}" type="slidenum">
              <a:rPr lang="en-US" smtClean="0"/>
              <a:t>‹#›</a:t>
            </a:fld>
            <a:endParaRPr lang="en-US"/>
          </a:p>
        </p:txBody>
      </p:sp>
    </p:spTree>
    <p:extLst>
      <p:ext uri="{BB962C8B-B14F-4D97-AF65-F5344CB8AC3E}">
        <p14:creationId xmlns:p14="http://schemas.microsoft.com/office/powerpoint/2010/main" val="4079356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30FB-ABCB-CCA3-2D47-73635DBCD9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CCF18D-A8D2-C6C3-B4FD-960BB5B9F8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F75885-9529-218A-B8E0-D3D529EE2991}"/>
              </a:ext>
            </a:extLst>
          </p:cNvPr>
          <p:cNvSpPr>
            <a:spLocks noGrp="1"/>
          </p:cNvSpPr>
          <p:nvPr>
            <p:ph type="dt" sz="half" idx="10"/>
          </p:nvPr>
        </p:nvSpPr>
        <p:spPr/>
        <p:txBody>
          <a:bodyPr/>
          <a:lstStyle/>
          <a:p>
            <a:fld id="{F2B10D47-E3A7-41AF-8F64-C5AE13807D8E}" type="datetimeFigureOut">
              <a:rPr lang="en-US" smtClean="0"/>
              <a:t>4/28/26</a:t>
            </a:fld>
            <a:endParaRPr lang="en-US"/>
          </a:p>
        </p:txBody>
      </p:sp>
      <p:sp>
        <p:nvSpPr>
          <p:cNvPr id="5" name="Footer Placeholder 4">
            <a:extLst>
              <a:ext uri="{FF2B5EF4-FFF2-40B4-BE49-F238E27FC236}">
                <a16:creationId xmlns:a16="http://schemas.microsoft.com/office/drawing/2014/main" id="{83EF1F31-644F-7E97-3450-0ED6A3918B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DE0B18-2C4C-10B4-688C-444962F2A1D4}"/>
              </a:ext>
            </a:extLst>
          </p:cNvPr>
          <p:cNvSpPr>
            <a:spLocks noGrp="1"/>
          </p:cNvSpPr>
          <p:nvPr>
            <p:ph type="sldNum" sz="quarter" idx="12"/>
          </p:nvPr>
        </p:nvSpPr>
        <p:spPr/>
        <p:txBody>
          <a:bodyPr/>
          <a:lstStyle/>
          <a:p>
            <a:fld id="{207C2DF4-E846-4C73-97EE-128063B4D458}" type="slidenum">
              <a:rPr lang="en-US" smtClean="0"/>
              <a:t>‹#›</a:t>
            </a:fld>
            <a:endParaRPr lang="en-US"/>
          </a:p>
        </p:txBody>
      </p:sp>
    </p:spTree>
    <p:extLst>
      <p:ext uri="{BB962C8B-B14F-4D97-AF65-F5344CB8AC3E}">
        <p14:creationId xmlns:p14="http://schemas.microsoft.com/office/powerpoint/2010/main" val="804890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69657-4C92-19CD-5CDA-79448C4BE9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497832-E7FE-1197-C622-C0C91B49C4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A6B3F9-5712-9643-09F3-1CD9F85F43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807E44-E21E-118C-42F2-D7F8ECB32991}"/>
              </a:ext>
            </a:extLst>
          </p:cNvPr>
          <p:cNvSpPr>
            <a:spLocks noGrp="1"/>
          </p:cNvSpPr>
          <p:nvPr>
            <p:ph type="dt" sz="half" idx="10"/>
          </p:nvPr>
        </p:nvSpPr>
        <p:spPr/>
        <p:txBody>
          <a:bodyPr/>
          <a:lstStyle/>
          <a:p>
            <a:fld id="{F2B10D47-E3A7-41AF-8F64-C5AE13807D8E}" type="datetimeFigureOut">
              <a:rPr lang="en-US" smtClean="0"/>
              <a:t>4/28/26</a:t>
            </a:fld>
            <a:endParaRPr lang="en-US"/>
          </a:p>
        </p:txBody>
      </p:sp>
      <p:sp>
        <p:nvSpPr>
          <p:cNvPr id="6" name="Footer Placeholder 5">
            <a:extLst>
              <a:ext uri="{FF2B5EF4-FFF2-40B4-BE49-F238E27FC236}">
                <a16:creationId xmlns:a16="http://schemas.microsoft.com/office/drawing/2014/main" id="{5B4CE135-92B2-6663-6170-95034B3CB0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35E43E-5549-3411-74D6-B4E5F2D9591E}"/>
              </a:ext>
            </a:extLst>
          </p:cNvPr>
          <p:cNvSpPr>
            <a:spLocks noGrp="1"/>
          </p:cNvSpPr>
          <p:nvPr>
            <p:ph type="sldNum" sz="quarter" idx="12"/>
          </p:nvPr>
        </p:nvSpPr>
        <p:spPr/>
        <p:txBody>
          <a:bodyPr/>
          <a:lstStyle/>
          <a:p>
            <a:fld id="{207C2DF4-E846-4C73-97EE-128063B4D458}" type="slidenum">
              <a:rPr lang="en-US" smtClean="0"/>
              <a:t>‹#›</a:t>
            </a:fld>
            <a:endParaRPr lang="en-US"/>
          </a:p>
        </p:txBody>
      </p:sp>
    </p:spTree>
    <p:extLst>
      <p:ext uri="{BB962C8B-B14F-4D97-AF65-F5344CB8AC3E}">
        <p14:creationId xmlns:p14="http://schemas.microsoft.com/office/powerpoint/2010/main" val="109393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DF001-2B27-8A65-6EA0-09D0649CB9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DAE71D-76E2-4995-5DAE-022490F5E7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C32D67-6D3A-A0F8-214E-4A268B3F54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BF474C-BA53-6DCE-55A0-9425950D5F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E860F0-22CC-87F9-3362-84F6E3DC8C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49F91C-EE47-C8D5-2B27-B6B0EACD9807}"/>
              </a:ext>
            </a:extLst>
          </p:cNvPr>
          <p:cNvSpPr>
            <a:spLocks noGrp="1"/>
          </p:cNvSpPr>
          <p:nvPr>
            <p:ph type="dt" sz="half" idx="10"/>
          </p:nvPr>
        </p:nvSpPr>
        <p:spPr/>
        <p:txBody>
          <a:bodyPr/>
          <a:lstStyle/>
          <a:p>
            <a:fld id="{F2B10D47-E3A7-41AF-8F64-C5AE13807D8E}" type="datetimeFigureOut">
              <a:rPr lang="en-US" smtClean="0"/>
              <a:t>4/28/26</a:t>
            </a:fld>
            <a:endParaRPr lang="en-US"/>
          </a:p>
        </p:txBody>
      </p:sp>
      <p:sp>
        <p:nvSpPr>
          <p:cNvPr id="8" name="Footer Placeholder 7">
            <a:extLst>
              <a:ext uri="{FF2B5EF4-FFF2-40B4-BE49-F238E27FC236}">
                <a16:creationId xmlns:a16="http://schemas.microsoft.com/office/drawing/2014/main" id="{244BA530-E519-C480-AB34-A8A5ED9BD1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416368-BEBD-D12D-6AC0-0E9CD014C1AE}"/>
              </a:ext>
            </a:extLst>
          </p:cNvPr>
          <p:cNvSpPr>
            <a:spLocks noGrp="1"/>
          </p:cNvSpPr>
          <p:nvPr>
            <p:ph type="sldNum" sz="quarter" idx="12"/>
          </p:nvPr>
        </p:nvSpPr>
        <p:spPr/>
        <p:txBody>
          <a:bodyPr/>
          <a:lstStyle/>
          <a:p>
            <a:fld id="{207C2DF4-E846-4C73-97EE-128063B4D458}" type="slidenum">
              <a:rPr lang="en-US" smtClean="0"/>
              <a:t>‹#›</a:t>
            </a:fld>
            <a:endParaRPr lang="en-US"/>
          </a:p>
        </p:txBody>
      </p:sp>
    </p:spTree>
    <p:extLst>
      <p:ext uri="{BB962C8B-B14F-4D97-AF65-F5344CB8AC3E}">
        <p14:creationId xmlns:p14="http://schemas.microsoft.com/office/powerpoint/2010/main" val="4009253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3D34A-96B5-662B-AEA8-2D23E1E5DC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FB91B0-AC66-0438-33EB-6BE214C96D91}"/>
              </a:ext>
            </a:extLst>
          </p:cNvPr>
          <p:cNvSpPr>
            <a:spLocks noGrp="1"/>
          </p:cNvSpPr>
          <p:nvPr>
            <p:ph type="dt" sz="half" idx="10"/>
          </p:nvPr>
        </p:nvSpPr>
        <p:spPr/>
        <p:txBody>
          <a:bodyPr/>
          <a:lstStyle/>
          <a:p>
            <a:fld id="{F2B10D47-E3A7-41AF-8F64-C5AE13807D8E}" type="datetimeFigureOut">
              <a:rPr lang="en-US" smtClean="0"/>
              <a:t>4/28/26</a:t>
            </a:fld>
            <a:endParaRPr lang="en-US"/>
          </a:p>
        </p:txBody>
      </p:sp>
      <p:sp>
        <p:nvSpPr>
          <p:cNvPr id="4" name="Footer Placeholder 3">
            <a:extLst>
              <a:ext uri="{FF2B5EF4-FFF2-40B4-BE49-F238E27FC236}">
                <a16:creationId xmlns:a16="http://schemas.microsoft.com/office/drawing/2014/main" id="{5671DE43-DDAC-DBAC-5A6D-FDDDAE72D2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3431F9-0CBE-DFC8-0B40-7DA472191505}"/>
              </a:ext>
            </a:extLst>
          </p:cNvPr>
          <p:cNvSpPr>
            <a:spLocks noGrp="1"/>
          </p:cNvSpPr>
          <p:nvPr>
            <p:ph type="sldNum" sz="quarter" idx="12"/>
          </p:nvPr>
        </p:nvSpPr>
        <p:spPr/>
        <p:txBody>
          <a:bodyPr/>
          <a:lstStyle/>
          <a:p>
            <a:fld id="{207C2DF4-E846-4C73-97EE-128063B4D458}" type="slidenum">
              <a:rPr lang="en-US" smtClean="0"/>
              <a:t>‹#›</a:t>
            </a:fld>
            <a:endParaRPr lang="en-US"/>
          </a:p>
        </p:txBody>
      </p:sp>
    </p:spTree>
    <p:extLst>
      <p:ext uri="{BB962C8B-B14F-4D97-AF65-F5344CB8AC3E}">
        <p14:creationId xmlns:p14="http://schemas.microsoft.com/office/powerpoint/2010/main" val="3255667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A9F444-5CF0-E230-7B0B-66393ED003C2}"/>
              </a:ext>
            </a:extLst>
          </p:cNvPr>
          <p:cNvSpPr>
            <a:spLocks noGrp="1"/>
          </p:cNvSpPr>
          <p:nvPr>
            <p:ph type="dt" sz="half" idx="10"/>
          </p:nvPr>
        </p:nvSpPr>
        <p:spPr/>
        <p:txBody>
          <a:bodyPr/>
          <a:lstStyle/>
          <a:p>
            <a:fld id="{F2B10D47-E3A7-41AF-8F64-C5AE13807D8E}" type="datetimeFigureOut">
              <a:rPr lang="en-US" smtClean="0"/>
              <a:t>4/28/26</a:t>
            </a:fld>
            <a:endParaRPr lang="en-US"/>
          </a:p>
        </p:txBody>
      </p:sp>
      <p:sp>
        <p:nvSpPr>
          <p:cNvPr id="3" name="Footer Placeholder 2">
            <a:extLst>
              <a:ext uri="{FF2B5EF4-FFF2-40B4-BE49-F238E27FC236}">
                <a16:creationId xmlns:a16="http://schemas.microsoft.com/office/drawing/2014/main" id="{57B472C7-5272-16BE-9CF7-F49E8E66EB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038CBE-7DCF-9991-3956-990B12B5B52B}"/>
              </a:ext>
            </a:extLst>
          </p:cNvPr>
          <p:cNvSpPr>
            <a:spLocks noGrp="1"/>
          </p:cNvSpPr>
          <p:nvPr>
            <p:ph type="sldNum" sz="quarter" idx="12"/>
          </p:nvPr>
        </p:nvSpPr>
        <p:spPr/>
        <p:txBody>
          <a:bodyPr/>
          <a:lstStyle/>
          <a:p>
            <a:fld id="{207C2DF4-E846-4C73-97EE-128063B4D458}" type="slidenum">
              <a:rPr lang="en-US" smtClean="0"/>
              <a:t>‹#›</a:t>
            </a:fld>
            <a:endParaRPr lang="en-US"/>
          </a:p>
        </p:txBody>
      </p:sp>
    </p:spTree>
    <p:extLst>
      <p:ext uri="{BB962C8B-B14F-4D97-AF65-F5344CB8AC3E}">
        <p14:creationId xmlns:p14="http://schemas.microsoft.com/office/powerpoint/2010/main" val="938680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5A780-1D20-DBF7-2F72-DA6E2A404A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66D9A8-8930-AAD3-312B-1DE22E1297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D784BF-72E1-8F38-9E5F-49CE0BD2AA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43E197-4A9A-AC61-7F55-FAE5B2C4D88D}"/>
              </a:ext>
            </a:extLst>
          </p:cNvPr>
          <p:cNvSpPr>
            <a:spLocks noGrp="1"/>
          </p:cNvSpPr>
          <p:nvPr>
            <p:ph type="dt" sz="half" idx="10"/>
          </p:nvPr>
        </p:nvSpPr>
        <p:spPr/>
        <p:txBody>
          <a:bodyPr/>
          <a:lstStyle/>
          <a:p>
            <a:fld id="{F2B10D47-E3A7-41AF-8F64-C5AE13807D8E}" type="datetimeFigureOut">
              <a:rPr lang="en-US" smtClean="0"/>
              <a:t>4/28/26</a:t>
            </a:fld>
            <a:endParaRPr lang="en-US"/>
          </a:p>
        </p:txBody>
      </p:sp>
      <p:sp>
        <p:nvSpPr>
          <p:cNvPr id="6" name="Footer Placeholder 5">
            <a:extLst>
              <a:ext uri="{FF2B5EF4-FFF2-40B4-BE49-F238E27FC236}">
                <a16:creationId xmlns:a16="http://schemas.microsoft.com/office/drawing/2014/main" id="{FC470541-F1F2-7E9C-6EAE-C4B3907A0E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A43FFC-1049-26A6-45C9-B30A88D9071F}"/>
              </a:ext>
            </a:extLst>
          </p:cNvPr>
          <p:cNvSpPr>
            <a:spLocks noGrp="1"/>
          </p:cNvSpPr>
          <p:nvPr>
            <p:ph type="sldNum" sz="quarter" idx="12"/>
          </p:nvPr>
        </p:nvSpPr>
        <p:spPr/>
        <p:txBody>
          <a:bodyPr/>
          <a:lstStyle/>
          <a:p>
            <a:fld id="{207C2DF4-E846-4C73-97EE-128063B4D458}" type="slidenum">
              <a:rPr lang="en-US" smtClean="0"/>
              <a:t>‹#›</a:t>
            </a:fld>
            <a:endParaRPr lang="en-US"/>
          </a:p>
        </p:txBody>
      </p:sp>
    </p:spTree>
    <p:extLst>
      <p:ext uri="{BB962C8B-B14F-4D97-AF65-F5344CB8AC3E}">
        <p14:creationId xmlns:p14="http://schemas.microsoft.com/office/powerpoint/2010/main" val="2844850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71327-911C-7E7D-4679-CCBDEE8573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3362D8-59B9-799E-E30F-FEB316CC2B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B2A239-9DF1-BB19-D16C-54FE9ED68C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EE0E36-A7B5-205D-84D4-9D53FD477B49}"/>
              </a:ext>
            </a:extLst>
          </p:cNvPr>
          <p:cNvSpPr>
            <a:spLocks noGrp="1"/>
          </p:cNvSpPr>
          <p:nvPr>
            <p:ph type="dt" sz="half" idx="10"/>
          </p:nvPr>
        </p:nvSpPr>
        <p:spPr/>
        <p:txBody>
          <a:bodyPr/>
          <a:lstStyle/>
          <a:p>
            <a:fld id="{F2B10D47-E3A7-41AF-8F64-C5AE13807D8E}" type="datetimeFigureOut">
              <a:rPr lang="en-US" smtClean="0"/>
              <a:t>4/28/26</a:t>
            </a:fld>
            <a:endParaRPr lang="en-US"/>
          </a:p>
        </p:txBody>
      </p:sp>
      <p:sp>
        <p:nvSpPr>
          <p:cNvPr id="6" name="Footer Placeholder 5">
            <a:extLst>
              <a:ext uri="{FF2B5EF4-FFF2-40B4-BE49-F238E27FC236}">
                <a16:creationId xmlns:a16="http://schemas.microsoft.com/office/drawing/2014/main" id="{E40ECE5A-74AA-23DE-406A-EE177F0FAD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DFF171-8308-3E57-FAE1-F313B6C5D98E}"/>
              </a:ext>
            </a:extLst>
          </p:cNvPr>
          <p:cNvSpPr>
            <a:spLocks noGrp="1"/>
          </p:cNvSpPr>
          <p:nvPr>
            <p:ph type="sldNum" sz="quarter" idx="12"/>
          </p:nvPr>
        </p:nvSpPr>
        <p:spPr/>
        <p:txBody>
          <a:bodyPr/>
          <a:lstStyle/>
          <a:p>
            <a:fld id="{207C2DF4-E846-4C73-97EE-128063B4D458}" type="slidenum">
              <a:rPr lang="en-US" smtClean="0"/>
              <a:t>‹#›</a:t>
            </a:fld>
            <a:endParaRPr lang="en-US"/>
          </a:p>
        </p:txBody>
      </p:sp>
    </p:spTree>
    <p:extLst>
      <p:ext uri="{BB962C8B-B14F-4D97-AF65-F5344CB8AC3E}">
        <p14:creationId xmlns:p14="http://schemas.microsoft.com/office/powerpoint/2010/main" val="1667187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E4508-4F1D-8F29-4EF4-E4F4A8C964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1B2C45-E344-02BD-E91A-953B7CE874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35AC2F-57FA-43FE-3C9F-34882C95D191}"/>
              </a:ext>
            </a:extLst>
          </p:cNvPr>
          <p:cNvSpPr>
            <a:spLocks noGrp="1"/>
          </p:cNvSpPr>
          <p:nvPr>
            <p:ph type="dt" sz="half" idx="10"/>
          </p:nvPr>
        </p:nvSpPr>
        <p:spPr/>
        <p:txBody>
          <a:bodyPr/>
          <a:lstStyle/>
          <a:p>
            <a:fld id="{F2B10D47-E3A7-41AF-8F64-C5AE13807D8E}" type="datetimeFigureOut">
              <a:rPr lang="en-US" smtClean="0"/>
              <a:t>4/28/26</a:t>
            </a:fld>
            <a:endParaRPr lang="en-US"/>
          </a:p>
        </p:txBody>
      </p:sp>
      <p:sp>
        <p:nvSpPr>
          <p:cNvPr id="5" name="Footer Placeholder 4">
            <a:extLst>
              <a:ext uri="{FF2B5EF4-FFF2-40B4-BE49-F238E27FC236}">
                <a16:creationId xmlns:a16="http://schemas.microsoft.com/office/drawing/2014/main" id="{FC44DC89-102C-A650-C9D7-A794E67A4E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FD72B6-CCBA-2C95-3D80-DD3A5FBE84F5}"/>
              </a:ext>
            </a:extLst>
          </p:cNvPr>
          <p:cNvSpPr>
            <a:spLocks noGrp="1"/>
          </p:cNvSpPr>
          <p:nvPr>
            <p:ph type="sldNum" sz="quarter" idx="12"/>
          </p:nvPr>
        </p:nvSpPr>
        <p:spPr/>
        <p:txBody>
          <a:bodyPr/>
          <a:lstStyle/>
          <a:p>
            <a:fld id="{207C2DF4-E846-4C73-97EE-128063B4D458}" type="slidenum">
              <a:rPr lang="en-US" smtClean="0"/>
              <a:t>‹#›</a:t>
            </a:fld>
            <a:endParaRPr lang="en-US"/>
          </a:p>
        </p:txBody>
      </p:sp>
    </p:spTree>
    <p:extLst>
      <p:ext uri="{BB962C8B-B14F-4D97-AF65-F5344CB8AC3E}">
        <p14:creationId xmlns:p14="http://schemas.microsoft.com/office/powerpoint/2010/main" val="2656874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135D45-D072-F8F4-C1B4-BBDF6EC4FF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A59967-55AB-5E16-E87B-F5705BCC1A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7265C-8E81-4D7E-AE75-DCDD9BCBF8C4}"/>
              </a:ext>
            </a:extLst>
          </p:cNvPr>
          <p:cNvSpPr>
            <a:spLocks noGrp="1"/>
          </p:cNvSpPr>
          <p:nvPr>
            <p:ph type="dt" sz="half" idx="10"/>
          </p:nvPr>
        </p:nvSpPr>
        <p:spPr/>
        <p:txBody>
          <a:bodyPr/>
          <a:lstStyle/>
          <a:p>
            <a:fld id="{F2B10D47-E3A7-41AF-8F64-C5AE13807D8E}" type="datetimeFigureOut">
              <a:rPr lang="en-US" smtClean="0"/>
              <a:t>4/28/26</a:t>
            </a:fld>
            <a:endParaRPr lang="en-US"/>
          </a:p>
        </p:txBody>
      </p:sp>
      <p:sp>
        <p:nvSpPr>
          <p:cNvPr id="5" name="Footer Placeholder 4">
            <a:extLst>
              <a:ext uri="{FF2B5EF4-FFF2-40B4-BE49-F238E27FC236}">
                <a16:creationId xmlns:a16="http://schemas.microsoft.com/office/drawing/2014/main" id="{B289F66C-837B-21B4-3845-0DCF33F2DA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985B6B-FEEE-9DD0-95DD-AE46C7D381D0}"/>
              </a:ext>
            </a:extLst>
          </p:cNvPr>
          <p:cNvSpPr>
            <a:spLocks noGrp="1"/>
          </p:cNvSpPr>
          <p:nvPr>
            <p:ph type="sldNum" sz="quarter" idx="12"/>
          </p:nvPr>
        </p:nvSpPr>
        <p:spPr/>
        <p:txBody>
          <a:bodyPr/>
          <a:lstStyle/>
          <a:p>
            <a:fld id="{207C2DF4-E846-4C73-97EE-128063B4D458}" type="slidenum">
              <a:rPr lang="en-US" smtClean="0"/>
              <a:t>‹#›</a:t>
            </a:fld>
            <a:endParaRPr lang="en-US"/>
          </a:p>
        </p:txBody>
      </p:sp>
    </p:spTree>
    <p:extLst>
      <p:ext uri="{BB962C8B-B14F-4D97-AF65-F5344CB8AC3E}">
        <p14:creationId xmlns:p14="http://schemas.microsoft.com/office/powerpoint/2010/main" val="3795078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46722F-FA24-35BC-8BF3-6380906512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373DF2-FFD7-0A89-0399-CD6C38098F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980FE9-EC43-8D09-036A-C204E6F845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B10D47-E3A7-41AF-8F64-C5AE13807D8E}" type="datetimeFigureOut">
              <a:rPr lang="en-US" smtClean="0"/>
              <a:t>4/28/26</a:t>
            </a:fld>
            <a:endParaRPr lang="en-US"/>
          </a:p>
        </p:txBody>
      </p:sp>
      <p:sp>
        <p:nvSpPr>
          <p:cNvPr id="5" name="Footer Placeholder 4">
            <a:extLst>
              <a:ext uri="{FF2B5EF4-FFF2-40B4-BE49-F238E27FC236}">
                <a16:creationId xmlns:a16="http://schemas.microsoft.com/office/drawing/2014/main" id="{90A6A462-7F14-255F-C5F6-F852FB6FCD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C1DC5A0-9C72-BBEC-7ECB-160CEB5AE9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7C2DF4-E846-4C73-97EE-128063B4D458}" type="slidenum">
              <a:rPr lang="en-US" smtClean="0"/>
              <a:t>‹#›</a:t>
            </a:fld>
            <a:endParaRPr lang="en-US"/>
          </a:p>
        </p:txBody>
      </p:sp>
    </p:spTree>
    <p:extLst>
      <p:ext uri="{BB962C8B-B14F-4D97-AF65-F5344CB8AC3E}">
        <p14:creationId xmlns:p14="http://schemas.microsoft.com/office/powerpoint/2010/main" val="2745325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C6419-F4B4-A021-2923-0F3FFE49CB41}"/>
              </a:ext>
            </a:extLst>
          </p:cNvPr>
          <p:cNvSpPr>
            <a:spLocks noGrp="1"/>
          </p:cNvSpPr>
          <p:nvPr>
            <p:ph type="ctrTitle"/>
          </p:nvPr>
        </p:nvSpPr>
        <p:spPr/>
        <p:txBody>
          <a:bodyPr/>
          <a:lstStyle/>
          <a:p>
            <a:r>
              <a:rPr lang="en-US" dirty="0"/>
              <a:t>Sequent System to Truth Tree Converter</a:t>
            </a:r>
          </a:p>
        </p:txBody>
      </p:sp>
      <p:sp>
        <p:nvSpPr>
          <p:cNvPr id="3" name="Subtitle 2">
            <a:extLst>
              <a:ext uri="{FF2B5EF4-FFF2-40B4-BE49-F238E27FC236}">
                <a16:creationId xmlns:a16="http://schemas.microsoft.com/office/drawing/2014/main" id="{34B3B576-A230-AEE5-0A31-92635A3B6586}"/>
              </a:ext>
            </a:extLst>
          </p:cNvPr>
          <p:cNvSpPr>
            <a:spLocks noGrp="1"/>
          </p:cNvSpPr>
          <p:nvPr>
            <p:ph type="subTitle" idx="1"/>
          </p:nvPr>
        </p:nvSpPr>
        <p:spPr/>
        <p:txBody>
          <a:bodyPr/>
          <a:lstStyle/>
          <a:p>
            <a:r>
              <a:rPr lang="en-US" dirty="0"/>
              <a:t>Andrew Nazareth and Andrii Bonenberger</a:t>
            </a:r>
          </a:p>
        </p:txBody>
      </p:sp>
    </p:spTree>
    <p:extLst>
      <p:ext uri="{BB962C8B-B14F-4D97-AF65-F5344CB8AC3E}">
        <p14:creationId xmlns:p14="http://schemas.microsoft.com/office/powerpoint/2010/main" val="1250846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0751B-BB4B-C8CD-AFCD-AF2D2ED93EE6}"/>
              </a:ext>
            </a:extLst>
          </p:cNvPr>
          <p:cNvSpPr>
            <a:spLocks noGrp="1"/>
          </p:cNvSpPr>
          <p:nvPr>
            <p:ph type="title"/>
          </p:nvPr>
        </p:nvSpPr>
        <p:spPr/>
        <p:txBody>
          <a:bodyPr/>
          <a:lstStyle/>
          <a:p>
            <a:r>
              <a:rPr lang="en-US" dirty="0"/>
              <a:t>Sequent System Rules</a:t>
            </a:r>
          </a:p>
        </p:txBody>
      </p:sp>
      <p:pic>
        <p:nvPicPr>
          <p:cNvPr id="5" name="Picture 4">
            <a:extLst>
              <a:ext uri="{FF2B5EF4-FFF2-40B4-BE49-F238E27FC236}">
                <a16:creationId xmlns:a16="http://schemas.microsoft.com/office/drawing/2014/main" id="{5EB86A85-783C-B930-648C-7E72FE065FF5}"/>
              </a:ext>
            </a:extLst>
          </p:cNvPr>
          <p:cNvPicPr>
            <a:picLocks noChangeAspect="1"/>
          </p:cNvPicPr>
          <p:nvPr/>
        </p:nvPicPr>
        <p:blipFill>
          <a:blip r:embed="rId3"/>
          <a:stretch>
            <a:fillRect/>
          </a:stretch>
        </p:blipFill>
        <p:spPr>
          <a:xfrm>
            <a:off x="3885891" y="1278163"/>
            <a:ext cx="4420217" cy="5115639"/>
          </a:xfrm>
          <a:prstGeom prst="rect">
            <a:avLst/>
          </a:prstGeom>
        </p:spPr>
      </p:pic>
    </p:spTree>
    <p:extLst>
      <p:ext uri="{BB962C8B-B14F-4D97-AF65-F5344CB8AC3E}">
        <p14:creationId xmlns:p14="http://schemas.microsoft.com/office/powerpoint/2010/main" val="1288449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6FD2F-5C59-B7DD-0244-3FE2605BC9E7}"/>
              </a:ext>
            </a:extLst>
          </p:cNvPr>
          <p:cNvSpPr>
            <a:spLocks noGrp="1"/>
          </p:cNvSpPr>
          <p:nvPr>
            <p:ph type="title"/>
          </p:nvPr>
        </p:nvSpPr>
        <p:spPr/>
        <p:txBody>
          <a:bodyPr/>
          <a:lstStyle/>
          <a:p>
            <a:r>
              <a:rPr lang="en-US" dirty="0"/>
              <a:t>Software Implementation </a:t>
            </a:r>
          </a:p>
        </p:txBody>
      </p:sp>
      <p:sp>
        <p:nvSpPr>
          <p:cNvPr id="3" name="Content Placeholder 2">
            <a:extLst>
              <a:ext uri="{FF2B5EF4-FFF2-40B4-BE49-F238E27FC236}">
                <a16:creationId xmlns:a16="http://schemas.microsoft.com/office/drawing/2014/main" id="{147148E8-AAD0-AB8B-4677-2454ADEAF754}"/>
              </a:ext>
            </a:extLst>
          </p:cNvPr>
          <p:cNvSpPr>
            <a:spLocks noGrp="1"/>
          </p:cNvSpPr>
          <p:nvPr>
            <p:ph idx="1"/>
          </p:nvPr>
        </p:nvSpPr>
        <p:spPr/>
        <p:txBody>
          <a:bodyPr/>
          <a:lstStyle/>
          <a:p>
            <a:r>
              <a:rPr lang="en-US" dirty="0"/>
              <a:t>Binary tree</a:t>
            </a:r>
          </a:p>
          <a:p>
            <a:r>
              <a:rPr lang="en-US" dirty="0"/>
              <a:t>Two types: binary (two parents), unary (one parent)</a:t>
            </a:r>
          </a:p>
          <a:p>
            <a:pPr lvl="1"/>
            <a:r>
              <a:rPr lang="en-US" dirty="0"/>
              <a:t>By parent I mean above it in text representation</a:t>
            </a:r>
          </a:p>
          <a:p>
            <a:r>
              <a:rPr lang="en-US" dirty="0"/>
              <a:t>Stores rule (from previous/parent), antecedents, </a:t>
            </a:r>
            <a:r>
              <a:rPr lang="en-US" dirty="0" err="1"/>
              <a:t>succedents</a:t>
            </a:r>
            <a:endParaRPr lang="en-US" dirty="0"/>
          </a:p>
          <a:p>
            <a:r>
              <a:rPr lang="en-US" dirty="0"/>
              <a:t>References to parent(s) and child(ren), if any</a:t>
            </a:r>
          </a:p>
        </p:txBody>
      </p:sp>
      <p:pic>
        <p:nvPicPr>
          <p:cNvPr id="4" name="Content Placeholder 5">
            <a:extLst>
              <a:ext uri="{FF2B5EF4-FFF2-40B4-BE49-F238E27FC236}">
                <a16:creationId xmlns:a16="http://schemas.microsoft.com/office/drawing/2014/main" id="{3AD044F6-1858-6775-DB03-2D224F5D0D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4363" y="1319977"/>
            <a:ext cx="2400300" cy="1739900"/>
          </a:xfrm>
          <a:prstGeom prst="rect">
            <a:avLst/>
          </a:prstGeom>
        </p:spPr>
      </p:pic>
      <p:sp>
        <p:nvSpPr>
          <p:cNvPr id="5" name="Oval 4">
            <a:extLst>
              <a:ext uri="{FF2B5EF4-FFF2-40B4-BE49-F238E27FC236}">
                <a16:creationId xmlns:a16="http://schemas.microsoft.com/office/drawing/2014/main" id="{0E15DB2F-3BA0-3D2D-D118-51B23EC22205}"/>
              </a:ext>
            </a:extLst>
          </p:cNvPr>
          <p:cNvSpPr/>
          <p:nvPr/>
        </p:nvSpPr>
        <p:spPr>
          <a:xfrm>
            <a:off x="9601200" y="1549102"/>
            <a:ext cx="1177962" cy="2765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0676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0120C-5034-E5AE-F372-73456B08B447}"/>
              </a:ext>
            </a:extLst>
          </p:cNvPr>
          <p:cNvSpPr>
            <a:spLocks noGrp="1"/>
          </p:cNvSpPr>
          <p:nvPr>
            <p:ph type="title"/>
          </p:nvPr>
        </p:nvSpPr>
        <p:spPr/>
        <p:txBody>
          <a:bodyPr/>
          <a:lstStyle/>
          <a:p>
            <a:r>
              <a:rPr lang="en-US" dirty="0"/>
              <a:t>Truth Tree Rules</a:t>
            </a:r>
          </a:p>
        </p:txBody>
      </p:sp>
      <p:pic>
        <p:nvPicPr>
          <p:cNvPr id="5" name="Content Placeholder 4">
            <a:extLst>
              <a:ext uri="{FF2B5EF4-FFF2-40B4-BE49-F238E27FC236}">
                <a16:creationId xmlns:a16="http://schemas.microsoft.com/office/drawing/2014/main" id="{16F67D01-1FD2-6D94-8432-BC4A37A211A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08100" y="1690688"/>
            <a:ext cx="5359574" cy="4351338"/>
          </a:xfrm>
          <a:prstGeom prst="rect">
            <a:avLst/>
          </a:prstGeom>
        </p:spPr>
      </p:pic>
      <p:pic>
        <p:nvPicPr>
          <p:cNvPr id="7" name="Picture 6">
            <a:extLst>
              <a:ext uri="{FF2B5EF4-FFF2-40B4-BE49-F238E27FC236}">
                <a16:creationId xmlns:a16="http://schemas.microsoft.com/office/drawing/2014/main" id="{F99474D2-C64D-3DA8-00A7-71F4C1A745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32583" y="1609726"/>
            <a:ext cx="1803400" cy="4432300"/>
          </a:xfrm>
          <a:prstGeom prst="rect">
            <a:avLst/>
          </a:prstGeom>
        </p:spPr>
      </p:pic>
    </p:spTree>
    <p:extLst>
      <p:ext uri="{BB962C8B-B14F-4D97-AF65-F5344CB8AC3E}">
        <p14:creationId xmlns:p14="http://schemas.microsoft.com/office/powerpoint/2010/main" val="3636270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0BAB2-C53E-8A4A-728B-E2559AD00526}"/>
              </a:ext>
            </a:extLst>
          </p:cNvPr>
          <p:cNvSpPr>
            <a:spLocks noGrp="1"/>
          </p:cNvSpPr>
          <p:nvPr>
            <p:ph type="title"/>
          </p:nvPr>
        </p:nvSpPr>
        <p:spPr/>
        <p:txBody>
          <a:bodyPr/>
          <a:lstStyle/>
          <a:p>
            <a:r>
              <a:rPr lang="en-US" dirty="0"/>
              <a:t>Software Implementation</a:t>
            </a:r>
          </a:p>
        </p:txBody>
      </p:sp>
      <p:sp>
        <p:nvSpPr>
          <p:cNvPr id="3" name="Content Placeholder 2">
            <a:extLst>
              <a:ext uri="{FF2B5EF4-FFF2-40B4-BE49-F238E27FC236}">
                <a16:creationId xmlns:a16="http://schemas.microsoft.com/office/drawing/2014/main" id="{7F0A556F-9386-50E2-5ADD-B035AE61EDC8}"/>
              </a:ext>
            </a:extLst>
          </p:cNvPr>
          <p:cNvSpPr>
            <a:spLocks noGrp="1"/>
          </p:cNvSpPr>
          <p:nvPr>
            <p:ph idx="1"/>
          </p:nvPr>
        </p:nvSpPr>
        <p:spPr/>
        <p:txBody>
          <a:bodyPr/>
          <a:lstStyle/>
          <a:p>
            <a:r>
              <a:rPr lang="en-US" dirty="0"/>
              <a:t>Binary tree</a:t>
            </a:r>
          </a:p>
          <a:p>
            <a:r>
              <a:rPr lang="en-US" dirty="0"/>
              <a:t>4 types: Binary (two children), unary (one child), open node (for open branches, not used in current implementation), closed node (for closed branches)</a:t>
            </a:r>
          </a:p>
          <a:p>
            <a:r>
              <a:rPr lang="en-US" dirty="0"/>
              <a:t>Stores statement that the node represents</a:t>
            </a:r>
          </a:p>
          <a:p>
            <a:r>
              <a:rPr lang="en-US" dirty="0"/>
              <a:t>Has references to parent and child(ren), if any</a:t>
            </a:r>
          </a:p>
        </p:txBody>
      </p:sp>
    </p:spTree>
    <p:extLst>
      <p:ext uri="{BB962C8B-B14F-4D97-AF65-F5344CB8AC3E}">
        <p14:creationId xmlns:p14="http://schemas.microsoft.com/office/powerpoint/2010/main" val="3628994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055A3-52A6-1955-F8BF-69A8E132E835}"/>
              </a:ext>
            </a:extLst>
          </p:cNvPr>
          <p:cNvSpPr>
            <a:spLocks noGrp="1"/>
          </p:cNvSpPr>
          <p:nvPr>
            <p:ph type="title"/>
          </p:nvPr>
        </p:nvSpPr>
        <p:spPr/>
        <p:txBody>
          <a:bodyPr/>
          <a:lstStyle/>
          <a:p>
            <a:r>
              <a:rPr lang="en-US" dirty="0"/>
              <a:t>Conversion from Sequent to Tree</a:t>
            </a:r>
          </a:p>
        </p:txBody>
      </p:sp>
      <p:pic>
        <p:nvPicPr>
          <p:cNvPr id="5" name="Content Placeholder 4">
            <a:extLst>
              <a:ext uri="{FF2B5EF4-FFF2-40B4-BE49-F238E27FC236}">
                <a16:creationId xmlns:a16="http://schemas.microsoft.com/office/drawing/2014/main" id="{AF0FFDCC-DC7C-A456-9DFE-CE1EEAECB6E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88616" y="1690688"/>
            <a:ext cx="4414768" cy="4351338"/>
          </a:xfrm>
          <a:prstGeom prst="rect">
            <a:avLst/>
          </a:prstGeom>
        </p:spPr>
      </p:pic>
      <p:pic>
        <p:nvPicPr>
          <p:cNvPr id="7" name="Picture 6">
            <a:extLst>
              <a:ext uri="{FF2B5EF4-FFF2-40B4-BE49-F238E27FC236}">
                <a16:creationId xmlns:a16="http://schemas.microsoft.com/office/drawing/2014/main" id="{033E0D0E-797E-D55D-3F94-355D5B1615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8616" y="1585370"/>
            <a:ext cx="952500" cy="660400"/>
          </a:xfrm>
          <a:prstGeom prst="rect">
            <a:avLst/>
          </a:prstGeom>
        </p:spPr>
      </p:pic>
      <p:pic>
        <p:nvPicPr>
          <p:cNvPr id="11" name="Picture 10">
            <a:extLst>
              <a:ext uri="{FF2B5EF4-FFF2-40B4-BE49-F238E27FC236}">
                <a16:creationId xmlns:a16="http://schemas.microsoft.com/office/drawing/2014/main" id="{C5B2B5E7-A179-1548-EBEB-6A4B0AF07F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94921" y="2234482"/>
            <a:ext cx="121313" cy="173304"/>
          </a:xfrm>
          <a:prstGeom prst="rect">
            <a:avLst/>
          </a:prstGeom>
        </p:spPr>
      </p:pic>
      <p:pic>
        <p:nvPicPr>
          <p:cNvPr id="13" name="Picture 12">
            <a:extLst>
              <a:ext uri="{FF2B5EF4-FFF2-40B4-BE49-F238E27FC236}">
                <a16:creationId xmlns:a16="http://schemas.microsoft.com/office/drawing/2014/main" id="{F8406443-2C82-6E86-6D9E-E20C7F5618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85142" y="4404381"/>
            <a:ext cx="118663" cy="152567"/>
          </a:xfrm>
          <a:prstGeom prst="rect">
            <a:avLst/>
          </a:prstGeom>
        </p:spPr>
      </p:pic>
      <p:pic>
        <p:nvPicPr>
          <p:cNvPr id="15" name="Picture 14">
            <a:extLst>
              <a:ext uri="{FF2B5EF4-FFF2-40B4-BE49-F238E27FC236}">
                <a16:creationId xmlns:a16="http://schemas.microsoft.com/office/drawing/2014/main" id="{283C3AFF-0E8C-16A8-BABE-1CCC1060E0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08892" y="4745881"/>
            <a:ext cx="952500" cy="553605"/>
          </a:xfrm>
          <a:prstGeom prst="rect">
            <a:avLst/>
          </a:prstGeom>
        </p:spPr>
      </p:pic>
    </p:spTree>
    <p:extLst>
      <p:ext uri="{BB962C8B-B14F-4D97-AF65-F5344CB8AC3E}">
        <p14:creationId xmlns:p14="http://schemas.microsoft.com/office/powerpoint/2010/main" val="773048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746C8-EA7A-FFFE-4C66-F0F8E07A8C92}"/>
              </a:ext>
            </a:extLst>
          </p:cNvPr>
          <p:cNvSpPr>
            <a:spLocks noGrp="1"/>
          </p:cNvSpPr>
          <p:nvPr>
            <p:ph type="title"/>
          </p:nvPr>
        </p:nvSpPr>
        <p:spPr/>
        <p:txBody>
          <a:bodyPr/>
          <a:lstStyle/>
          <a:p>
            <a:r>
              <a:rPr lang="en-US" dirty="0"/>
              <a:t>Software Implementation</a:t>
            </a:r>
          </a:p>
        </p:txBody>
      </p:sp>
      <p:sp>
        <p:nvSpPr>
          <p:cNvPr id="3" name="Content Placeholder 2">
            <a:extLst>
              <a:ext uri="{FF2B5EF4-FFF2-40B4-BE49-F238E27FC236}">
                <a16:creationId xmlns:a16="http://schemas.microsoft.com/office/drawing/2014/main" id="{6B649537-3377-DFB0-6CE0-F46F884AE15C}"/>
              </a:ext>
            </a:extLst>
          </p:cNvPr>
          <p:cNvSpPr>
            <a:spLocks noGrp="1"/>
          </p:cNvSpPr>
          <p:nvPr>
            <p:ph idx="1"/>
          </p:nvPr>
        </p:nvSpPr>
        <p:spPr/>
        <p:txBody>
          <a:bodyPr/>
          <a:lstStyle/>
          <a:p>
            <a:r>
              <a:rPr lang="en-US" dirty="0"/>
              <a:t>Visitor pattern to convert each rule</a:t>
            </a:r>
          </a:p>
          <a:p>
            <a:r>
              <a:rPr lang="en-US" dirty="0"/>
              <a:t>Go as deep as possible to create the nodes and pull them back up the tree, attaching where applicable</a:t>
            </a:r>
          </a:p>
          <a:p>
            <a:r>
              <a:rPr lang="en-US"/>
              <a:t>We unit tested it :)</a:t>
            </a:r>
          </a:p>
        </p:txBody>
      </p:sp>
    </p:spTree>
    <p:extLst>
      <p:ext uri="{BB962C8B-B14F-4D97-AF65-F5344CB8AC3E}">
        <p14:creationId xmlns:p14="http://schemas.microsoft.com/office/powerpoint/2010/main" val="3585945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0A507-B7C4-53D3-A7E6-4F41E4F199DC}"/>
              </a:ext>
            </a:extLst>
          </p:cNvPr>
          <p:cNvSpPr>
            <a:spLocks noGrp="1"/>
          </p:cNvSpPr>
          <p:nvPr>
            <p:ph type="title"/>
          </p:nvPr>
        </p:nvSpPr>
        <p:spPr/>
        <p:txBody>
          <a:bodyPr/>
          <a:lstStyle/>
          <a:p>
            <a:r>
              <a:rPr lang="en-US"/>
              <a:t>Unit Tests</a:t>
            </a:r>
          </a:p>
        </p:txBody>
      </p:sp>
      <p:pic>
        <p:nvPicPr>
          <p:cNvPr id="5" name="Content Placeholder 4">
            <a:extLst>
              <a:ext uri="{FF2B5EF4-FFF2-40B4-BE49-F238E27FC236}">
                <a16:creationId xmlns:a16="http://schemas.microsoft.com/office/drawing/2014/main" id="{C9A744DC-1A73-8DAC-F857-BB45D5A31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2944070"/>
            <a:ext cx="10515600" cy="2114447"/>
          </a:xfrm>
          <a:prstGeom prst="rect">
            <a:avLst/>
          </a:prstGeom>
        </p:spPr>
      </p:pic>
    </p:spTree>
    <p:extLst>
      <p:ext uri="{BB962C8B-B14F-4D97-AF65-F5344CB8AC3E}">
        <p14:creationId xmlns:p14="http://schemas.microsoft.com/office/powerpoint/2010/main" val="2478011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10BC1-6B26-04C9-3DE3-AC77AB14DB1A}"/>
              </a:ext>
            </a:extLst>
          </p:cNvPr>
          <p:cNvSpPr>
            <a:spLocks noGrp="1"/>
          </p:cNvSpPr>
          <p:nvPr>
            <p:ph type="title"/>
          </p:nvPr>
        </p:nvSpPr>
        <p:spPr/>
        <p:txBody>
          <a:bodyPr/>
          <a:lstStyle/>
          <a:p>
            <a:r>
              <a:rPr lang="en-US" dirty="0"/>
              <a:t>Data Format</a:t>
            </a:r>
          </a:p>
        </p:txBody>
      </p:sp>
      <p:sp>
        <p:nvSpPr>
          <p:cNvPr id="3" name="Content Placeholder 2">
            <a:extLst>
              <a:ext uri="{FF2B5EF4-FFF2-40B4-BE49-F238E27FC236}">
                <a16:creationId xmlns:a16="http://schemas.microsoft.com/office/drawing/2014/main" id="{AA830121-7CCE-3F1E-AC34-28D6763ED507}"/>
              </a:ext>
            </a:extLst>
          </p:cNvPr>
          <p:cNvSpPr>
            <a:spLocks noGrp="1"/>
          </p:cNvSpPr>
          <p:nvPr>
            <p:ph idx="1"/>
          </p:nvPr>
        </p:nvSpPr>
        <p:spPr/>
        <p:txBody>
          <a:bodyPr/>
          <a:lstStyle/>
          <a:p>
            <a:r>
              <a:rPr lang="en-US" dirty="0"/>
              <a:t>JSON formatted output for use in willow</a:t>
            </a:r>
          </a:p>
          <a:p>
            <a:r>
              <a:rPr lang="en-US" dirty="0"/>
              <a:t>No input format; you currently must use the raw code to create the sequent system or the trees</a:t>
            </a:r>
          </a:p>
        </p:txBody>
      </p:sp>
    </p:spTree>
    <p:extLst>
      <p:ext uri="{BB962C8B-B14F-4D97-AF65-F5344CB8AC3E}">
        <p14:creationId xmlns:p14="http://schemas.microsoft.com/office/powerpoint/2010/main" val="3446518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E23C5-3B0B-8609-55E9-25E05EB27E79}"/>
              </a:ext>
            </a:extLst>
          </p:cNvPr>
          <p:cNvSpPr>
            <a:spLocks noGrp="1"/>
          </p:cNvSpPr>
          <p:nvPr>
            <p:ph type="title"/>
          </p:nvPr>
        </p:nvSpPr>
        <p:spPr/>
        <p:txBody>
          <a:bodyPr/>
          <a:lstStyle/>
          <a:p>
            <a:r>
              <a:rPr lang="en-US" dirty="0"/>
              <a:t>Ex0</a:t>
            </a:r>
          </a:p>
        </p:txBody>
      </p:sp>
      <p:pic>
        <p:nvPicPr>
          <p:cNvPr id="5" name="Content Placeholder 4">
            <a:extLst>
              <a:ext uri="{FF2B5EF4-FFF2-40B4-BE49-F238E27FC236}">
                <a16:creationId xmlns:a16="http://schemas.microsoft.com/office/drawing/2014/main" id="{F81BCA3F-53AF-4C82-88A6-E69E23E9D01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276977" y="1432634"/>
            <a:ext cx="3865485" cy="2095500"/>
          </a:xfrm>
          <a:prstGeom prst="rect">
            <a:avLst/>
          </a:prstGeom>
        </p:spPr>
      </p:pic>
      <p:pic>
        <p:nvPicPr>
          <p:cNvPr id="7" name="Picture 6">
            <a:extLst>
              <a:ext uri="{FF2B5EF4-FFF2-40B4-BE49-F238E27FC236}">
                <a16:creationId xmlns:a16="http://schemas.microsoft.com/office/drawing/2014/main" id="{C81FFECD-2BE9-2A9B-B4B5-EC5434241C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4968" y="3350334"/>
            <a:ext cx="4149505" cy="2095500"/>
          </a:xfrm>
          <a:prstGeom prst="rect">
            <a:avLst/>
          </a:prstGeom>
        </p:spPr>
      </p:pic>
      <p:pic>
        <p:nvPicPr>
          <p:cNvPr id="8" name="Content Placeholder 5">
            <a:extLst>
              <a:ext uri="{FF2B5EF4-FFF2-40B4-BE49-F238E27FC236}">
                <a16:creationId xmlns:a16="http://schemas.microsoft.com/office/drawing/2014/main" id="{7DF01F59-3519-F5DA-A003-586B1B636A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72951" y="1610434"/>
            <a:ext cx="2400300" cy="1739900"/>
          </a:xfrm>
          <a:prstGeom prst="rect">
            <a:avLst/>
          </a:prstGeom>
        </p:spPr>
      </p:pic>
      <p:pic>
        <p:nvPicPr>
          <p:cNvPr id="10" name="Picture 9">
            <a:extLst>
              <a:ext uri="{FF2B5EF4-FFF2-40B4-BE49-F238E27FC236}">
                <a16:creationId xmlns:a16="http://schemas.microsoft.com/office/drawing/2014/main" id="{9F89ED92-54F4-F59E-0DEF-856F521D73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72951" y="3429000"/>
            <a:ext cx="2641600" cy="2095500"/>
          </a:xfrm>
          <a:prstGeom prst="rect">
            <a:avLst/>
          </a:prstGeom>
        </p:spPr>
      </p:pic>
    </p:spTree>
    <p:extLst>
      <p:ext uri="{BB962C8B-B14F-4D97-AF65-F5344CB8AC3E}">
        <p14:creationId xmlns:p14="http://schemas.microsoft.com/office/powerpoint/2010/main" val="3642901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7941D-E7CF-8757-CAC1-C02E0293C0AF}"/>
              </a:ext>
            </a:extLst>
          </p:cNvPr>
          <p:cNvSpPr>
            <a:spLocks noGrp="1"/>
          </p:cNvSpPr>
          <p:nvPr>
            <p:ph type="title"/>
          </p:nvPr>
        </p:nvSpPr>
        <p:spPr/>
        <p:txBody>
          <a:bodyPr/>
          <a:lstStyle/>
          <a:p>
            <a:r>
              <a:rPr lang="en-US" dirty="0"/>
              <a:t>Ex1</a:t>
            </a:r>
          </a:p>
        </p:txBody>
      </p:sp>
      <p:pic>
        <p:nvPicPr>
          <p:cNvPr id="4" name="Picture 3">
            <a:extLst>
              <a:ext uri="{FF2B5EF4-FFF2-40B4-BE49-F238E27FC236}">
                <a16:creationId xmlns:a16="http://schemas.microsoft.com/office/drawing/2014/main" id="{23F43D24-0BFD-BC07-06CA-645A985447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7607" y="2500795"/>
            <a:ext cx="5109135" cy="3000997"/>
          </a:xfrm>
          <a:prstGeom prst="rect">
            <a:avLst/>
          </a:prstGeom>
        </p:spPr>
      </p:pic>
      <p:pic>
        <p:nvPicPr>
          <p:cNvPr id="10" name="Content Placeholder 9">
            <a:extLst>
              <a:ext uri="{FF2B5EF4-FFF2-40B4-BE49-F238E27FC236}">
                <a16:creationId xmlns:a16="http://schemas.microsoft.com/office/drawing/2014/main" id="{FC406C0F-2E32-93AA-AB0E-8D49910114EF}"/>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772045" y="2705190"/>
            <a:ext cx="4932349" cy="2579998"/>
          </a:xfrm>
          <a:prstGeom prst="rect">
            <a:avLst/>
          </a:prstGeom>
        </p:spPr>
      </p:pic>
    </p:spTree>
    <p:extLst>
      <p:ext uri="{BB962C8B-B14F-4D97-AF65-F5344CB8AC3E}">
        <p14:creationId xmlns:p14="http://schemas.microsoft.com/office/powerpoint/2010/main" val="369532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2141B-E0F8-A653-2D0F-DE33352FB1CB}"/>
              </a:ext>
            </a:extLst>
          </p:cNvPr>
          <p:cNvSpPr>
            <a:spLocks noGrp="1"/>
          </p:cNvSpPr>
          <p:nvPr>
            <p:ph type="title"/>
          </p:nvPr>
        </p:nvSpPr>
        <p:spPr/>
        <p:txBody>
          <a:bodyPr/>
          <a:lstStyle/>
          <a:p>
            <a:r>
              <a:rPr lang="en-US" dirty="0"/>
              <a:t>Ex2</a:t>
            </a:r>
          </a:p>
        </p:txBody>
      </p:sp>
      <p:pic>
        <p:nvPicPr>
          <p:cNvPr id="5" name="Content Placeholder 4">
            <a:extLst>
              <a:ext uri="{FF2B5EF4-FFF2-40B4-BE49-F238E27FC236}">
                <a16:creationId xmlns:a16="http://schemas.microsoft.com/office/drawing/2014/main" id="{8BDA4A47-CACD-C174-55B1-213EBD629F9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931955"/>
            <a:ext cx="6467234" cy="2994090"/>
          </a:xfrm>
          <a:prstGeom prst="rect">
            <a:avLst/>
          </a:prstGeom>
        </p:spPr>
      </p:pic>
      <p:sp>
        <p:nvSpPr>
          <p:cNvPr id="8" name="TextBox 7">
            <a:extLst>
              <a:ext uri="{FF2B5EF4-FFF2-40B4-BE49-F238E27FC236}">
                <a16:creationId xmlns:a16="http://schemas.microsoft.com/office/drawing/2014/main" id="{8C750EF6-AD2A-66B8-742A-823FAB1F91DE}"/>
              </a:ext>
            </a:extLst>
          </p:cNvPr>
          <p:cNvSpPr txBox="1"/>
          <p:nvPr/>
        </p:nvSpPr>
        <p:spPr>
          <a:xfrm>
            <a:off x="1082936" y="4926045"/>
            <a:ext cx="5013064" cy="1200329"/>
          </a:xfrm>
          <a:prstGeom prst="rect">
            <a:avLst/>
          </a:prstGeom>
          <a:noFill/>
        </p:spPr>
        <p:txBody>
          <a:bodyPr wrap="square" rtlCol="0">
            <a:spAutoFit/>
          </a:bodyPr>
          <a:lstStyle/>
          <a:p>
            <a:r>
              <a:rPr lang="en-US" dirty="0"/>
              <a:t>*Note: This one had to remove the double A,A after the CR for it to work properly due to the way we are detecting what the node that needs to be created is</a:t>
            </a:r>
          </a:p>
        </p:txBody>
      </p:sp>
      <p:pic>
        <p:nvPicPr>
          <p:cNvPr id="10" name="Picture 9">
            <a:extLst>
              <a:ext uri="{FF2B5EF4-FFF2-40B4-BE49-F238E27FC236}">
                <a16:creationId xmlns:a16="http://schemas.microsoft.com/office/drawing/2014/main" id="{B0730B7D-55FE-A3B4-5C60-AC4190216A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3826" y="1629416"/>
            <a:ext cx="4664710" cy="3599167"/>
          </a:xfrm>
          <a:prstGeom prst="rect">
            <a:avLst/>
          </a:prstGeom>
        </p:spPr>
      </p:pic>
    </p:spTree>
    <p:extLst>
      <p:ext uri="{BB962C8B-B14F-4D97-AF65-F5344CB8AC3E}">
        <p14:creationId xmlns:p14="http://schemas.microsoft.com/office/powerpoint/2010/main" val="3672651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86951-C586-4201-FC34-BE0D3CBCF654}"/>
              </a:ext>
            </a:extLst>
          </p:cNvPr>
          <p:cNvSpPr>
            <a:spLocks noGrp="1"/>
          </p:cNvSpPr>
          <p:nvPr>
            <p:ph type="title"/>
          </p:nvPr>
        </p:nvSpPr>
        <p:spPr/>
        <p:txBody>
          <a:bodyPr/>
          <a:lstStyle/>
          <a:p>
            <a:r>
              <a:rPr lang="en-US" dirty="0"/>
              <a:t>Known Bugs / Issues</a:t>
            </a:r>
          </a:p>
        </p:txBody>
      </p:sp>
      <p:sp>
        <p:nvSpPr>
          <p:cNvPr id="3" name="Content Placeholder 2">
            <a:extLst>
              <a:ext uri="{FF2B5EF4-FFF2-40B4-BE49-F238E27FC236}">
                <a16:creationId xmlns:a16="http://schemas.microsoft.com/office/drawing/2014/main" id="{5FD2455B-7345-9DD1-A8B3-1C38324B8CF5}"/>
              </a:ext>
            </a:extLst>
          </p:cNvPr>
          <p:cNvSpPr>
            <a:spLocks noGrp="1"/>
          </p:cNvSpPr>
          <p:nvPr>
            <p:ph idx="1"/>
          </p:nvPr>
        </p:nvSpPr>
        <p:spPr/>
        <p:txBody>
          <a:bodyPr/>
          <a:lstStyle/>
          <a:p>
            <a:r>
              <a:rPr lang="en-US" dirty="0"/>
              <a:t>Cases with duplicates on one side that is checked by the next step (CR into -&gt;L for example) don’t work properly</a:t>
            </a:r>
          </a:p>
          <a:p>
            <a:r>
              <a:rPr lang="en-US" dirty="0"/>
              <a:t>May not work with cascaded operands; ((A and B) and (C and D)) for example</a:t>
            </a:r>
          </a:p>
        </p:txBody>
      </p:sp>
    </p:spTree>
    <p:extLst>
      <p:ext uri="{BB962C8B-B14F-4D97-AF65-F5344CB8AC3E}">
        <p14:creationId xmlns:p14="http://schemas.microsoft.com/office/powerpoint/2010/main" val="3423557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91A01-7064-8FF2-C412-136AF454DE00}"/>
              </a:ext>
            </a:extLst>
          </p:cNvPr>
          <p:cNvSpPr>
            <a:spLocks noGrp="1"/>
          </p:cNvSpPr>
          <p:nvPr>
            <p:ph type="title"/>
          </p:nvPr>
        </p:nvSpPr>
        <p:spPr/>
        <p:txBody>
          <a:bodyPr/>
          <a:lstStyle/>
          <a:p>
            <a:r>
              <a:rPr lang="en-US" dirty="0"/>
              <a:t>Future Plans / Improvements</a:t>
            </a:r>
          </a:p>
        </p:txBody>
      </p:sp>
      <p:sp>
        <p:nvSpPr>
          <p:cNvPr id="3" name="Content Placeholder 2">
            <a:extLst>
              <a:ext uri="{FF2B5EF4-FFF2-40B4-BE49-F238E27FC236}">
                <a16:creationId xmlns:a16="http://schemas.microsoft.com/office/drawing/2014/main" id="{5E49CA58-6031-E0BF-3C8D-6D50DA39FFC7}"/>
              </a:ext>
            </a:extLst>
          </p:cNvPr>
          <p:cNvSpPr>
            <a:spLocks noGrp="1"/>
          </p:cNvSpPr>
          <p:nvPr>
            <p:ph idx="1"/>
          </p:nvPr>
        </p:nvSpPr>
        <p:spPr/>
        <p:txBody>
          <a:bodyPr/>
          <a:lstStyle/>
          <a:p>
            <a:r>
              <a:rPr lang="en-US" dirty="0"/>
              <a:t>Fix the converter so it works with more interesting/complex cases</a:t>
            </a:r>
            <a:r>
              <a:rPr lang="en-US"/>
              <a:t> – Known bugs and issues</a:t>
            </a:r>
          </a:p>
          <a:p>
            <a:r>
              <a:rPr lang="en-US"/>
              <a:t>Implement more robust storage and conversion algorithms</a:t>
            </a:r>
          </a:p>
          <a:p>
            <a:r>
              <a:rPr lang="en-US"/>
              <a:t>Design and implement data storage for the sequent nodes.</a:t>
            </a:r>
          </a:p>
        </p:txBody>
      </p:sp>
    </p:spTree>
    <p:extLst>
      <p:ext uri="{BB962C8B-B14F-4D97-AF65-F5344CB8AC3E}">
        <p14:creationId xmlns:p14="http://schemas.microsoft.com/office/powerpoint/2010/main" val="4193914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7CF9D6-DC78-6164-7835-CEF4B0DD0359}"/>
              </a:ext>
            </a:extLst>
          </p:cNvPr>
          <p:cNvSpPr txBox="1"/>
          <p:nvPr/>
        </p:nvSpPr>
        <p:spPr>
          <a:xfrm>
            <a:off x="3785239" y="2921168"/>
            <a:ext cx="4621522" cy="1015663"/>
          </a:xfrm>
          <a:prstGeom prst="rect">
            <a:avLst/>
          </a:prstGeom>
          <a:noFill/>
        </p:spPr>
        <p:txBody>
          <a:bodyPr wrap="none" rtlCol="0">
            <a:spAutoFit/>
          </a:bodyPr>
          <a:lstStyle/>
          <a:p>
            <a:r>
              <a:rPr lang="en-US" sz="6000" dirty="0"/>
              <a:t>QUESTIONS?</a:t>
            </a:r>
          </a:p>
        </p:txBody>
      </p:sp>
    </p:spTree>
    <p:extLst>
      <p:ext uri="{BB962C8B-B14F-4D97-AF65-F5344CB8AC3E}">
        <p14:creationId xmlns:p14="http://schemas.microsoft.com/office/powerpoint/2010/main" val="2482409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9024353421B204A85367055BD572B4D" ma:contentTypeVersion="14" ma:contentTypeDescription="Create a new document." ma:contentTypeScope="" ma:versionID="fc2d5b46066019a51bfbb5fc3c5dc65f">
  <xsd:schema xmlns:xsd="http://www.w3.org/2001/XMLSchema" xmlns:xs="http://www.w3.org/2001/XMLSchema" xmlns:p="http://schemas.microsoft.com/office/2006/metadata/properties" xmlns:ns3="46162205-c740-4a53-b02b-fa2699ccc298" xmlns:ns4="a71a18ff-4ca2-41e5-84fa-d9bb202a8cca" targetNamespace="http://schemas.microsoft.com/office/2006/metadata/properties" ma:root="true" ma:fieldsID="7347281cfe8ae3d3fdc7177424e3b2e8" ns3:_="" ns4:_="">
    <xsd:import namespace="46162205-c740-4a53-b02b-fa2699ccc298"/>
    <xsd:import namespace="a71a18ff-4ca2-41e5-84fa-d9bb202a8cca"/>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3:MediaServiceGenerationTime" minOccurs="0"/>
                <xsd:element ref="ns3:MediaServiceEventHashCode" minOccurs="0"/>
                <xsd:element ref="ns3:MediaServiceDateTaken" minOccurs="0"/>
                <xsd:element ref="ns3:MediaServiceSystemTags" minOccurs="0"/>
                <xsd:element ref="ns3:MediaLengthInSeconds" minOccurs="0"/>
                <xsd:element ref="ns4:SharedWithUsers" minOccurs="0"/>
                <xsd:element ref="ns4:SharedWithDetails" minOccurs="0"/>
                <xsd:element ref="ns4:SharingHintHash" minOccurs="0"/>
                <xsd:element ref="ns3:MediaServiceSearchPropertie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162205-c740-4a53-b02b-fa2699ccc2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1a18ff-4ca2-41e5-84fa-d9bb202a8cc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46162205-c740-4a53-b02b-fa2699ccc298" xsi:nil="true"/>
  </documentManagement>
</p:properties>
</file>

<file path=customXml/itemProps1.xml><?xml version="1.0" encoding="utf-8"?>
<ds:datastoreItem xmlns:ds="http://schemas.openxmlformats.org/officeDocument/2006/customXml" ds:itemID="{62997097-B30C-48A4-9DDB-D79DD9126BCE}">
  <ds:schemaRefs>
    <ds:schemaRef ds:uri="http://schemas.microsoft.com/sharepoint/v3/contenttype/forms"/>
  </ds:schemaRefs>
</ds:datastoreItem>
</file>

<file path=customXml/itemProps2.xml><?xml version="1.0" encoding="utf-8"?>
<ds:datastoreItem xmlns:ds="http://schemas.openxmlformats.org/officeDocument/2006/customXml" ds:itemID="{2BA8C96D-B7E2-4E4B-A9B7-38E724720C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162205-c740-4a53-b02b-fa2699ccc298"/>
    <ds:schemaRef ds:uri="a71a18ff-4ca2-41e5-84fa-d9bb202a8c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829AFDF-1E2E-48F0-8FD9-360CADBFF570}">
  <ds:schemaRefs>
    <ds:schemaRef ds:uri="http://purl.org/dc/terms/"/>
    <ds:schemaRef ds:uri="http://www.w3.org/XML/1998/namespace"/>
    <ds:schemaRef ds:uri="http://schemas.microsoft.com/office/2006/metadata/properties"/>
    <ds:schemaRef ds:uri="46162205-c740-4a53-b02b-fa2699ccc298"/>
    <ds:schemaRef ds:uri="http://schemas.microsoft.com/office/2006/documentManagement/types"/>
    <ds:schemaRef ds:uri="http://purl.org/dc/elements/1.1/"/>
    <ds:schemaRef ds:uri="http://purl.org/dc/dcmitype/"/>
    <ds:schemaRef ds:uri="a71a18ff-4ca2-41e5-84fa-d9bb202a8cca"/>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1284</TotalTime>
  <Words>909</Words>
  <Application>Microsoft Macintosh PowerPoint</Application>
  <PresentationFormat>Widescreen</PresentationFormat>
  <Paragraphs>72</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Sequent System to Truth Tree Converter</vt:lpstr>
      <vt:lpstr>Sequent System Rules</vt:lpstr>
      <vt:lpstr>Software Implementation </vt:lpstr>
      <vt:lpstr>Truth Tree Rules</vt:lpstr>
      <vt:lpstr>Software Implementation</vt:lpstr>
      <vt:lpstr>Conversion from Sequent to Tree</vt:lpstr>
      <vt:lpstr>Software Implementation</vt:lpstr>
      <vt:lpstr>Unit Tests</vt:lpstr>
      <vt:lpstr>Data Format</vt:lpstr>
      <vt:lpstr>Ex0</vt:lpstr>
      <vt:lpstr>Ex1</vt:lpstr>
      <vt:lpstr>Ex2</vt:lpstr>
      <vt:lpstr>Known Bugs / Issues</vt:lpstr>
      <vt:lpstr>Future Plans / Improvements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Bonenberger, Andrii Solomko</dc:creator>
  <cp:lastModifiedBy>Nazareth, Andrew</cp:lastModifiedBy>
  <cp:revision>2</cp:revision>
  <dcterms:created xsi:type="dcterms:W3CDTF">2026-04-23T21:15:48Z</dcterms:created>
  <dcterms:modified xsi:type="dcterms:W3CDTF">2026-04-28T15:58:11Z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0x010100A9024353421B204A85367055BD572B4D</vt:lpwstr>
  </property>
</Properties>
</file>